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4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61550-9022-4C46-A749-A2949983EDE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42FF-599A-4758-9428-941E9523C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54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61550-9022-4C46-A749-A2949983EDE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42FF-599A-4758-9428-941E9523C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847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61550-9022-4C46-A749-A2949983EDE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42FF-599A-4758-9428-941E9523C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72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61550-9022-4C46-A749-A2949983EDE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42FF-599A-4758-9428-941E9523C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24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61550-9022-4C46-A749-A2949983EDE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42FF-599A-4758-9428-941E9523C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26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61550-9022-4C46-A749-A2949983EDE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42FF-599A-4758-9428-941E9523C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00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61550-9022-4C46-A749-A2949983EDE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42FF-599A-4758-9428-941E9523C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51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61550-9022-4C46-A749-A2949983EDE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42FF-599A-4758-9428-941E9523C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7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61550-9022-4C46-A749-A2949983EDE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42FF-599A-4758-9428-941E9523C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10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61550-9022-4C46-A749-A2949983EDE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42FF-599A-4758-9428-941E9523C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6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61550-9022-4C46-A749-A2949983EDE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42FF-599A-4758-9428-941E9523C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208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61550-9022-4C46-A749-A2949983EDE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42FF-599A-4758-9428-941E9523CAC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5593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61550-9022-4C46-A749-A2949983EDE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42FF-599A-4758-9428-941E9523C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50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61550-9022-4C46-A749-A2949983EDE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42FF-599A-4758-9428-941E9523C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543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61550-9022-4C46-A749-A2949983EDE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42FF-599A-4758-9428-941E9523C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672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61550-9022-4C46-A749-A2949983EDE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42FF-599A-4758-9428-941E9523C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54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61550-9022-4C46-A749-A2949983EDE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42FF-599A-4758-9428-941E9523C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2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6C61550-9022-4C46-A749-A2949983EDE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30F42FF-599A-4758-9428-941E9523C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519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E64B2-46B6-0559-FC6B-D30C11AC77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 Relational Mapping</a:t>
            </a:r>
            <a:br>
              <a:rPr lang="en-US" dirty="0"/>
            </a:br>
            <a:r>
              <a:rPr lang="en-US" dirty="0"/>
              <a:t>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66FD2-2782-6040-C24C-2888B914B3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Lunch and Learn</a:t>
            </a:r>
          </a:p>
        </p:txBody>
      </p:sp>
    </p:spTree>
    <p:extLst>
      <p:ext uri="{BB962C8B-B14F-4D97-AF65-F5344CB8AC3E}">
        <p14:creationId xmlns:p14="http://schemas.microsoft.com/office/powerpoint/2010/main" val="826676382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5629C-0D98-0257-326B-1E69195F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C771E-D653-D6C2-CC73-1083049A5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Main purpose is to map objects in object-oriented programming back to a relational database.</a:t>
            </a:r>
          </a:p>
          <a:p>
            <a:pPr lvl="1"/>
            <a:r>
              <a:rPr lang="en-US" dirty="0"/>
              <a:t>Maps rows or records to an object automatically</a:t>
            </a:r>
          </a:p>
          <a:p>
            <a:pPr lvl="1"/>
            <a:r>
              <a:rPr lang="en-US" dirty="0"/>
              <a:t>Tracks Identity</a:t>
            </a:r>
          </a:p>
          <a:p>
            <a:pPr lvl="1"/>
            <a:r>
              <a:rPr lang="en-US" dirty="0"/>
              <a:t>Tracks Changes</a:t>
            </a:r>
          </a:p>
          <a:p>
            <a:pPr lvl="1"/>
            <a:r>
              <a:rPr lang="en-US" dirty="0"/>
              <a:t>Manages Relationships</a:t>
            </a:r>
          </a:p>
          <a:p>
            <a:pPr lvl="1"/>
            <a:r>
              <a:rPr lang="en-US" dirty="0"/>
              <a:t>Handles transactions for the database</a:t>
            </a:r>
          </a:p>
          <a:p>
            <a:r>
              <a:rPr lang="en-US" dirty="0"/>
              <a:t>ORMs handle all CRUD operations. Create, Read, Update, and Delete. </a:t>
            </a:r>
          </a:p>
          <a:p>
            <a:r>
              <a:rPr lang="en-US" dirty="0"/>
              <a:t>Data Model is the in-memory description of the actual database.</a:t>
            </a:r>
          </a:p>
          <a:p>
            <a:r>
              <a:rPr lang="en-US" dirty="0"/>
              <a:t>Ultimately, it becomes a translation of the database in an application or library that a user uses.</a:t>
            </a:r>
          </a:p>
        </p:txBody>
      </p:sp>
    </p:spTree>
    <p:extLst>
      <p:ext uri="{BB962C8B-B14F-4D97-AF65-F5344CB8AC3E}">
        <p14:creationId xmlns:p14="http://schemas.microsoft.com/office/powerpoint/2010/main" val="39334322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AFBB1-4EDE-56F9-8E00-D8B0FC138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did ORM’s come from?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61647-7B1E-8FCE-F5A9-8FCBBD01C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Edgar Frank “Ted” Codd. Credited for producing the theoretical basis of relational databases and database management systems.</a:t>
            </a:r>
          </a:p>
          <a:p>
            <a:r>
              <a:rPr lang="en-US" dirty="0"/>
              <a:t>There are a bunch of different ORM’s out there now.</a:t>
            </a:r>
          </a:p>
          <a:p>
            <a:r>
              <a:rPr lang="en-US" dirty="0"/>
              <a:t>TopLink and Oracle. JPQL</a:t>
            </a:r>
          </a:p>
          <a:p>
            <a:r>
              <a:rPr lang="en-US" dirty="0"/>
              <a:t>Which one do we use?</a:t>
            </a:r>
          </a:p>
          <a:p>
            <a:pPr lvl="1"/>
            <a:r>
              <a:rPr lang="en-US" dirty="0"/>
              <a:t>Entity Framework 3.5 – Entity Framework Core 9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4179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4BA15-80E0-BD72-54EF-1440E9C89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an 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3FA7B-AC33-6AAA-0FA7-EEED33FC5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BFE008-4EEE-05CD-40F2-A4E0AC38A4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Maintainability</a:t>
            </a:r>
          </a:p>
          <a:p>
            <a:r>
              <a:rPr lang="en-US" dirty="0"/>
              <a:t>Portability</a:t>
            </a:r>
          </a:p>
          <a:p>
            <a:r>
              <a:rPr lang="en-US" dirty="0"/>
              <a:t>Separation of Responsibility</a:t>
            </a:r>
          </a:p>
          <a:p>
            <a:r>
              <a:rPr lang="en-US" dirty="0"/>
              <a:t>Simplification of Queries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5B0577-0C21-54BC-4830-877EFFAC84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Losses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27103F-7A39-12F1-71E1-8664C1133F3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Bad Queries</a:t>
            </a:r>
          </a:p>
          <a:p>
            <a:r>
              <a:rPr lang="en-US" dirty="0"/>
              <a:t>Sometimes a black box</a:t>
            </a:r>
          </a:p>
          <a:p>
            <a:r>
              <a:rPr lang="en-US" dirty="0"/>
              <a:t>Performance Issues</a:t>
            </a:r>
          </a:p>
          <a:p>
            <a:r>
              <a:rPr lang="en-US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8038720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EDF2D-4E9D-57A9-129F-1D9A52A9B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0"/>
            <a:ext cx="10515600" cy="6857999"/>
          </a:xfrm>
        </p:spPr>
        <p:txBody>
          <a:bodyPr anchor="ctr">
            <a:normAutofit/>
          </a:bodyPr>
          <a:lstStyle/>
          <a:p>
            <a:pPr algn="ctr"/>
            <a:r>
              <a:rPr lang="en-US" sz="4800" dirty="0"/>
              <a:t>Should you use an ORM for everything?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62721-747C-1600-D616-7AA828087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118104"/>
            <a:ext cx="10515600" cy="3739895"/>
          </a:xfrm>
        </p:spPr>
        <p:txBody>
          <a:bodyPr anchor="ctr"/>
          <a:lstStyle/>
          <a:p>
            <a:r>
              <a:rPr lang="en-US" dirty="0"/>
              <a:t>No, you shouldn’t. Ultimately it comes down to your products needs and goals. There’s a lot of heated discussion around what data access should look like in a program. Sometimes ORM’s can be used like a crutch, and the flip side is losing the mobility that they offer.</a:t>
            </a:r>
          </a:p>
        </p:txBody>
      </p:sp>
    </p:spTree>
    <p:extLst>
      <p:ext uri="{BB962C8B-B14F-4D97-AF65-F5344CB8AC3E}">
        <p14:creationId xmlns:p14="http://schemas.microsoft.com/office/powerpoint/2010/main" val="33824329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47C69-14DE-9436-4D64-6690EC726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Best example of where to use an ORM.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D9EE8-55BE-4487-D0B9-5C98EC3BE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Most If Not All Business Applications</a:t>
            </a:r>
          </a:p>
          <a:p>
            <a:pPr lvl="1"/>
            <a:r>
              <a:rPr lang="en-US" dirty="0"/>
              <a:t>In business applications there are often the same CRUD patterns and ORMs handle these very well.</a:t>
            </a:r>
          </a:p>
          <a:p>
            <a:pPr lvl="1"/>
            <a:r>
              <a:rPr lang="en-US" dirty="0"/>
              <a:t>They also handle this style of application well because there’s immediate change tracking and transactional behavior built-in.</a:t>
            </a:r>
          </a:p>
          <a:p>
            <a:pPr lvl="1"/>
            <a:r>
              <a:rPr lang="en-US" dirty="0"/>
              <a:t>Rapid development and testable structures are built-in.</a:t>
            </a:r>
          </a:p>
          <a:p>
            <a:pPr lvl="1"/>
            <a:r>
              <a:rPr lang="en-US" dirty="0"/>
              <a:t>Handles real world data effectively through tight or specific queries for the user.</a:t>
            </a:r>
          </a:p>
          <a:p>
            <a:pPr lvl="1"/>
            <a:r>
              <a:rPr lang="en-US" dirty="0"/>
              <a:t>Good for very simple reporting to a specific control on the screen (with moderation).</a:t>
            </a:r>
          </a:p>
          <a:p>
            <a:r>
              <a:rPr lang="en-US" dirty="0"/>
              <a:t>A lot of business Web Sites</a:t>
            </a:r>
          </a:p>
          <a:p>
            <a:pPr lvl="1"/>
            <a:r>
              <a:rPr lang="en-US" dirty="0"/>
              <a:t>Although maybe you won’t see Entity Framework used. We do see ORMs used in enterprise level websites all the time.</a:t>
            </a:r>
          </a:p>
        </p:txBody>
      </p:sp>
    </p:spTree>
    <p:extLst>
      <p:ext uri="{BB962C8B-B14F-4D97-AF65-F5344CB8AC3E}">
        <p14:creationId xmlns:p14="http://schemas.microsoft.com/office/powerpoint/2010/main" val="62946178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7C196-9A04-F969-60FB-F6501AB6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Probably bad places to use an ORM.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EA59A-5DE4-07A2-F8C5-E66E0F4E9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0472"/>
            <a:ext cx="10515600" cy="53675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Bulk Data Operations</a:t>
            </a:r>
          </a:p>
          <a:p>
            <a:pPr lvl="1"/>
            <a:r>
              <a:rPr lang="en-US" dirty="0"/>
              <a:t>We are talking hundreds of millions of records all need to have a series of functions ran on them here.</a:t>
            </a:r>
          </a:p>
          <a:p>
            <a:pPr lvl="1"/>
            <a:r>
              <a:rPr lang="en-US" dirty="0"/>
              <a:t>They track way too much just for some nightly operation. It’s a nuke for when a fly swatter would have handled it.</a:t>
            </a:r>
          </a:p>
          <a:p>
            <a:r>
              <a:rPr lang="en-US" dirty="0"/>
              <a:t>Software as a Service applications</a:t>
            </a:r>
          </a:p>
          <a:p>
            <a:pPr lvl="1"/>
            <a:r>
              <a:rPr lang="en-US" dirty="0"/>
              <a:t>If handled improperly it could get expensive quick with Cloud Computing bills and web applications if handled improperly.</a:t>
            </a:r>
          </a:p>
          <a:p>
            <a:r>
              <a:rPr lang="en-US" dirty="0"/>
              <a:t>Complex Analytical Data Processing</a:t>
            </a:r>
          </a:p>
          <a:p>
            <a:pPr lvl="1"/>
            <a:r>
              <a:rPr lang="en-US" dirty="0"/>
              <a:t>You can get some very complicated queries built with LINQ but, it can take a performance nosedive quickly after the expression builder does it’s stuff.</a:t>
            </a:r>
          </a:p>
          <a:p>
            <a:r>
              <a:rPr lang="en-US" dirty="0"/>
              <a:t>Critical systems with sensitive data</a:t>
            </a:r>
          </a:p>
          <a:p>
            <a:pPr lvl="1"/>
            <a:r>
              <a:rPr lang="en-US" dirty="0"/>
              <a:t>If you’re working at government organization or if a person's life is on the line something that can never fail is the only option.</a:t>
            </a:r>
          </a:p>
          <a:p>
            <a:pPr lvl="1"/>
            <a:r>
              <a:rPr lang="en-US" dirty="0"/>
              <a:t>We aren’t going to use EF Core 9 to access logistical data for an F22 or something wild like that.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50070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F22F7-5194-2ABF-E37F-ACB6A5226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87019"/>
          </a:xfrm>
        </p:spPr>
        <p:txBody>
          <a:bodyPr>
            <a:normAutofit/>
          </a:bodyPr>
          <a:lstStyle/>
          <a:p>
            <a:r>
              <a:rPr lang="en-US" dirty="0"/>
              <a:t>Code Comparison (Asked Claude for this)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30442-4E9A-85E5-B600-880AE9215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52145"/>
            <a:ext cx="5157787" cy="458533"/>
          </a:xfrm>
        </p:spPr>
        <p:txBody>
          <a:bodyPr>
            <a:normAutofit/>
          </a:bodyPr>
          <a:lstStyle/>
          <a:p>
            <a:r>
              <a:rPr lang="en-US" dirty="0"/>
              <a:t>EF Core 9 with LINQ and collections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CDEBE51-BFCF-7FC6-942C-F11DD8F55A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6612" y="1610678"/>
            <a:ext cx="4692047" cy="4578986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43300E-69B8-ADD9-A4C7-C5F1452B8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52145"/>
            <a:ext cx="5183188" cy="458533"/>
          </a:xfrm>
        </p:spPr>
        <p:txBody>
          <a:bodyPr>
            <a:normAutofit/>
          </a:bodyPr>
          <a:lstStyle/>
          <a:p>
            <a:r>
              <a:rPr lang="en-US" dirty="0"/>
              <a:t>VB6 with ADODB and </a:t>
            </a:r>
            <a:r>
              <a:rPr lang="en-US" dirty="0" err="1"/>
              <a:t>RecordSets</a:t>
            </a:r>
            <a:endParaRPr lang="en-US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5DE1C5ED-40B9-7600-45CC-233E67E14E6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997575" y="1610678"/>
            <a:ext cx="5183188" cy="505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003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E8B826"/>
      </a:accent1>
      <a:accent2>
        <a:srgbClr val="E2CA72"/>
      </a:accent2>
      <a:accent3>
        <a:srgbClr val="BD723B"/>
      </a:accent3>
      <a:accent4>
        <a:srgbClr val="AE9376"/>
      </a:accent4>
      <a:accent5>
        <a:srgbClr val="A77F41"/>
      </a:accent5>
      <a:accent6>
        <a:srgbClr val="A1AE79"/>
      </a:accent6>
      <a:hlink>
        <a:srgbClr val="F1D06A"/>
      </a:hlink>
      <a:folHlink>
        <a:srgbClr val="EDDCA8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D5CBAF11-69B7-47EA-BC01-41F77058C2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476</TotalTime>
  <Words>531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Calisto MT</vt:lpstr>
      <vt:lpstr>Wingdings 2</vt:lpstr>
      <vt:lpstr>Slate</vt:lpstr>
      <vt:lpstr>Object Relational Mapping ORM</vt:lpstr>
      <vt:lpstr>What is an ORM</vt:lpstr>
      <vt:lpstr>Where did ORM’s come from?</vt:lpstr>
      <vt:lpstr>Why use an ORM</vt:lpstr>
      <vt:lpstr>Should you use an ORM for everything?</vt:lpstr>
      <vt:lpstr>Best example of where to use an ORM.</vt:lpstr>
      <vt:lpstr>Probably bad places to use an ORM.</vt:lpstr>
      <vt:lpstr>Code Comparison (Asked Claude for this)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Byrd</dc:creator>
  <cp:lastModifiedBy>Ian Byrd</cp:lastModifiedBy>
  <cp:revision>2</cp:revision>
  <dcterms:created xsi:type="dcterms:W3CDTF">2026-01-28T16:38:03Z</dcterms:created>
  <dcterms:modified xsi:type="dcterms:W3CDTF">2026-01-29T00:34:08Z</dcterms:modified>
</cp:coreProperties>
</file>